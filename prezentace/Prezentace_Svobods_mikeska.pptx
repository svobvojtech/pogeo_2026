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9" r:id="rId7"/>
    <p:sldId id="266" r:id="rId8"/>
    <p:sldId id="258" r:id="rId9"/>
    <p:sldId id="260" r:id="rId10"/>
    <p:sldId id="261" r:id="rId11"/>
    <p:sldId id="267" r:id="rId12"/>
    <p:sldId id="268" r:id="rId13"/>
    <p:sldId id="269" r:id="rId14"/>
    <p:sldId id="270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5588F6-CA7F-A589-2563-1ECD6804103E}" name="Macku Karel" initials="MK" userId="S::mackka00@upol.cz::a41eaf12-5b29-4211-9b41-a2cdec51c9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4B5"/>
    <a:srgbClr val="868889"/>
    <a:srgbClr val="E4EDF5"/>
    <a:srgbClr val="D1E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76266-4640-4804-9448-BA1E59F7AE9E}" v="3" dt="2024-10-22T10:26:29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0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ku Karel" userId="S::mackka00@upol.cz::a41eaf12-5b29-4211-9b41-a2cdec51c947" providerId="AD" clId="Web-{44E76266-4640-4804-9448-BA1E59F7AE9E}"/>
    <pc:docChg chg="mod">
      <pc:chgData name="Macku Karel" userId="S::mackka00@upol.cz::a41eaf12-5b29-4211-9b41-a2cdec51c947" providerId="AD" clId="Web-{44E76266-4640-4804-9448-BA1E59F7AE9E}" dt="2024-10-22T10:25:21.295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>
            <a:extLst>
              <a:ext uri="{FF2B5EF4-FFF2-40B4-BE49-F238E27FC236}">
                <a16:creationId xmlns:a16="http://schemas.microsoft.com/office/drawing/2014/main" id="{F5DB6C53-A428-424F-8FA5-564DF68440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71096DD6-97CF-44CA-A7EC-C375C0C0F9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9DEAE-159A-49CD-9FD9-6084753F7210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F25F6DEB-9D86-4E44-BADA-A82539661B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BE8A0BE9-882A-4F56-A6EA-2488AC7BC7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76EDA-D0D5-4FD2-BEAB-89437D9381A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696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A6382-3F53-4BFD-BE97-15AB74673F1F}" type="datetimeFigureOut">
              <a:rPr lang="sk-SK" smtClean="0"/>
              <a:t>7. 4. 2026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1AE79-C02A-4BF3-BCDE-0E08E690E3E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577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9280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6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rgbClr val="2C74B5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0012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517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2165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474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54823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NÁZEV PREZENTACE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4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NÁZEV PREZENTACE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5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9972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4817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6"/>
            <a:ext cx="6858000" cy="17907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620">
                <a:latin typeface="+mj-lt"/>
              </a:defRPr>
            </a:lvl1pPr>
            <a:lvl2pPr marL="308606" indent="0" algn="ctr">
              <a:buNone/>
              <a:defRPr sz="1350"/>
            </a:lvl2pPr>
            <a:lvl3pPr marL="617214" indent="0" algn="ctr">
              <a:buNone/>
              <a:defRPr sz="1215"/>
            </a:lvl3pPr>
            <a:lvl4pPr marL="925821" indent="0" algn="ctr">
              <a:buNone/>
              <a:defRPr sz="1080"/>
            </a:lvl4pPr>
            <a:lvl5pPr marL="1234428" indent="0" algn="ctr">
              <a:buNone/>
              <a:defRPr sz="1080"/>
            </a:lvl5pPr>
            <a:lvl6pPr marL="1543035" indent="0" algn="ctr">
              <a:buNone/>
              <a:defRPr sz="1080"/>
            </a:lvl6pPr>
            <a:lvl7pPr marL="1851641" indent="0" algn="ctr">
              <a:buNone/>
              <a:defRPr sz="1080"/>
            </a:lvl7pPr>
            <a:lvl8pPr marL="2160248" indent="0" algn="ctr">
              <a:buNone/>
              <a:defRPr sz="1080"/>
            </a:lvl8pPr>
            <a:lvl9pPr marL="2468856" indent="0" algn="ctr">
              <a:buNone/>
              <a:defRPr sz="1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Zástupný objekt pre pätu 8">
            <a:extLst>
              <a:ext uri="{FF2B5EF4-FFF2-40B4-BE49-F238E27FC236}">
                <a16:creationId xmlns:a16="http://schemas.microsoft.com/office/drawing/2014/main" id="{0BB775BC-1FB6-4731-ACA5-9F0FE7D6DE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8483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6B2F087-2417-459B-81C0-C15CF6EE1B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7822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5187" y="47788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C74B5"/>
                </a:solidFill>
                <a:latin typeface="+mj-lt"/>
              </a:defRPr>
            </a:lvl1pPr>
          </a:lstStyle>
          <a:p>
            <a:r>
              <a:rPr lang="sk-SK"/>
              <a:t>NÁZEV PREZENTACE</a:t>
            </a:r>
            <a:endParaRPr lang="sk-SK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82C772D-8CC2-422C-B629-871F63E63360}"/>
              </a:ext>
            </a:extLst>
          </p:cNvPr>
          <p:cNvSpPr txBox="1">
            <a:spLocks/>
          </p:cNvSpPr>
          <p:nvPr userDrawn="1"/>
        </p:nvSpPr>
        <p:spPr>
          <a:xfrm>
            <a:off x="2395190" y="4945291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6A91E4-EFC2-4F2F-A298-3276F2B56CF6}" type="datetime1">
              <a:rPr lang="cs-CZ" sz="500" smtClean="0">
                <a:solidFill>
                  <a:srgbClr val="868889"/>
                </a:solidFill>
              </a:rPr>
              <a:pPr/>
              <a:t>07.04.2026</a:t>
            </a:fld>
            <a:endParaRPr lang="sk-SK" sz="500" dirty="0">
              <a:solidFill>
                <a:srgbClr val="868889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54E3B9A-036B-45D5-9302-7155BA0F8EF4}"/>
              </a:ext>
            </a:extLst>
          </p:cNvPr>
          <p:cNvSpPr txBox="1">
            <a:spLocks/>
          </p:cNvSpPr>
          <p:nvPr userDrawn="1"/>
        </p:nvSpPr>
        <p:spPr>
          <a:xfrm>
            <a:off x="6963508" y="4864335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30E7CE8-3ECF-4145-970B-716EFB69DB0F}" type="slidenum">
              <a:rPr lang="sk-SK" sz="900" smtClean="0">
                <a:solidFill>
                  <a:srgbClr val="2C74B5"/>
                </a:solidFill>
              </a:rPr>
              <a:pPr algn="r"/>
              <a:t>‹#›</a:t>
            </a:fld>
            <a:endParaRPr lang="sk-SK" sz="900" dirty="0">
              <a:solidFill>
                <a:srgbClr val="2C74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37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1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2C74B5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rgbClr val="2C74B5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C74B5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2C74B5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2C74B5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2C74B5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81DC52-1CC5-41F3-950C-05F278FD4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547" y="929617"/>
            <a:ext cx="8052905" cy="1241823"/>
          </a:xfrm>
        </p:spPr>
        <p:txBody>
          <a:bodyPr>
            <a:normAutofit/>
          </a:bodyPr>
          <a:lstStyle/>
          <a:p>
            <a:r>
              <a:rPr lang="cs-CZ" dirty="0"/>
              <a:t>ANALÝZA VOLEBNÍHO ÚSPĚCHU ČESKÉ PIRÁTSKÉ STRANY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83B569C-C90A-4FB1-B334-3F74D3FDD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dirty="0"/>
              <a:t>Vojtěch Svoboda, Petr Mikeska</a:t>
            </a:r>
          </a:p>
          <a:p>
            <a:r>
              <a:rPr lang="cs-CZ" dirty="0"/>
              <a:t>POGEO | Duben 2026</a:t>
            </a:r>
          </a:p>
          <a:p>
            <a:endParaRPr lang="cs-CZ" dirty="0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05C91194-7033-4974-8BF6-763A7DD4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9604" y="4792144"/>
            <a:ext cx="2057400" cy="230430"/>
          </a:xfrm>
        </p:spPr>
        <p:txBody>
          <a:bodyPr/>
          <a:lstStyle/>
          <a:p>
            <a:r>
              <a:rPr lang="cs-CZ" sz="800" dirty="0"/>
              <a:t>ANALÝZA VOLEBNÍHO ÚSPĚCHU</a:t>
            </a:r>
            <a:endParaRPr lang="sk-SK" sz="700" dirty="0"/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A2B17C23-2E4F-D429-AFB1-D975FEEC420C}"/>
              </a:ext>
            </a:extLst>
          </p:cNvPr>
          <p:cNvSpPr txBox="1">
            <a:spLocks/>
          </p:cNvSpPr>
          <p:nvPr/>
        </p:nvSpPr>
        <p:spPr>
          <a:xfrm>
            <a:off x="0" y="2160689"/>
            <a:ext cx="9144000" cy="4989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500" dirty="0"/>
              <a:t>Parlamentní volby 2025</a:t>
            </a:r>
          </a:p>
        </p:txBody>
      </p:sp>
    </p:spTree>
    <p:extLst>
      <p:ext uri="{BB962C8B-B14F-4D97-AF65-F5344CB8AC3E}">
        <p14:creationId xmlns:p14="http://schemas.microsoft.com/office/powerpoint/2010/main" val="413188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0206-2EB6-5FCD-8352-138425B8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ČESKÁ PIRÁTSKÁ STRANA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90C35-950D-A40D-5174-33B17331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ANALÝZA VOLEBNÍHO ÚSPĚCHU</a:t>
            </a:r>
            <a:endParaRPr lang="sk-S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F78B6-4198-6B25-9865-01A577C1B7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241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46B1-9199-C179-2381-E73DEBF6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Vývoj volební podpory Pirátů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85152-0779-A501-CA79-00F05603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ANALÝZA VOLEBNÍHO ÚSPĚCHU</a:t>
            </a:r>
            <a:endParaRPr lang="sk-S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3CB3F-D023-B8C0-FA64-1348875870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83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0DBC-20B5-8F8A-315B-995ACB35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Prostorové rozdíly v podpoře Pirátů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164CB-6E12-D436-8832-8EE19F1A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80683"/>
            <a:ext cx="2057400" cy="273844"/>
          </a:xfrm>
        </p:spPr>
        <p:txBody>
          <a:bodyPr/>
          <a:lstStyle/>
          <a:p>
            <a:r>
              <a:rPr lang="cs-CZ" sz="800" dirty="0"/>
              <a:t>ANALÝZA VOLEBNÍHO ÚSPĚCHU</a:t>
            </a:r>
            <a:endParaRPr lang="sk-SK" sz="7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E49A0C-09ED-EB72-AFF1-FB00E645C9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594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FB9-C98A-5646-1A76-2BDB42EAF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8077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Data a metodika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505AC-6CD1-30BA-D6A2-912E245F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0662B-B56D-D479-9573-9C4AC3783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40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BFC5-AD8B-CC8D-305C-CE47EDD8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Neprostorový model 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2C2E-799D-D794-E639-3D1561FD8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349159" cy="3263504"/>
          </a:xfrm>
        </p:spPr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77FA8-190F-883F-02BE-6CA22513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77816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76B8-281A-6377-0419-2911D76B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Diagnostika: prostorová autokorelace reziduí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A0EF-4475-F1D8-A12F-58DD10C1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320137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CD2C-A54B-8175-A337-6D8B61F9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7DB2-70FE-C397-6920-127EB524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GWR: nastavení a porovnání s 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74EF8-5C34-BD09-F847-AFF58FE1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137382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18E1-C99E-DFA6-0454-7A84C39B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0FD0-A8E5-2EB8-6F58-F4AEF389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Lokální R2: kde model funguje lépe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987CB-4BD7-E5C0-0FF7-ADF3A487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289530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B474-504D-EA52-D6AB-553A5098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8D70-40B3-50C2-F312-B1AE0EE5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Lokální koeficienty: důkaz </a:t>
            </a:r>
            <a:r>
              <a:rPr lang="cs-CZ" dirty="0" err="1"/>
              <a:t>nestacionarity</a:t>
            </a:r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A7508-AF71-AE4C-D381-EE262AC0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111942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BB71-076F-1DA1-5C47-4AD3A4D2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A329-9A34-A016-5E70-A21EBAFD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Shrnutí a limity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9E545-C06B-C38C-F199-CD1375DC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407952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B332-E627-5A47-1792-2D21F96A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36" y="2236711"/>
            <a:ext cx="7886700" cy="994172"/>
          </a:xfrm>
        </p:spPr>
        <p:txBody>
          <a:bodyPr>
            <a:normAutofit fontScale="90000"/>
          </a:bodyPr>
          <a:lstStyle/>
          <a:p>
            <a:pPr algn="ctr"/>
            <a:r>
              <a:rPr lang="cs-CZ" sz="4800" dirty="0"/>
              <a:t>Děkuji za pozornost</a:t>
            </a:r>
            <a:br>
              <a:rPr lang="cs-CZ" sz="4800" dirty="0"/>
            </a:br>
            <a:r>
              <a:rPr lang="cs-CZ" sz="2000" b="0" dirty="0"/>
              <a:t>Vojtěch Svoboda</a:t>
            </a:r>
            <a:br>
              <a:rPr lang="cs-CZ" sz="3200" dirty="0"/>
            </a:br>
            <a:br>
              <a:rPr lang="cs-CZ" sz="4800" dirty="0"/>
            </a:br>
            <a:endParaRPr lang="cs-CZ" sz="4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58BE1-240A-8B20-BC0E-195C9411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66192"/>
            <a:ext cx="2057400" cy="273844"/>
          </a:xfrm>
        </p:spPr>
        <p:txBody>
          <a:bodyPr/>
          <a:lstStyle/>
          <a:p>
            <a:r>
              <a:rPr lang="cs-CZ" sz="800" dirty="0"/>
              <a:t>ANALÝZA VOLEBNÍHO ÚSPĚCHU</a:t>
            </a:r>
            <a:endParaRPr lang="sk-SK" sz="700" dirty="0"/>
          </a:p>
        </p:txBody>
      </p:sp>
    </p:spTree>
    <p:extLst>
      <p:ext uri="{BB962C8B-B14F-4D97-AF65-F5344CB8AC3E}">
        <p14:creationId xmlns:p14="http://schemas.microsoft.com/office/powerpoint/2010/main" val="179951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Motív balíka Office">
  <a:themeElements>
    <a:clrScheme name="Motív balík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é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Motív balíka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ácia1" id="{557A613A-B148-4105-8331-FC99AB0EED19}" vid="{27B93A29-1BBF-458F-9C6A-36D649CEEE1B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A86020EF9ED4743BF514E0EFECFCE50" ma:contentTypeVersion="11" ma:contentTypeDescription="Vytvoří nový dokument" ma:contentTypeScope="" ma:versionID="730e0f2e1d846e61e37dbc50e3d6c54d">
  <xsd:schema xmlns:xsd="http://www.w3.org/2001/XMLSchema" xmlns:xs="http://www.w3.org/2001/XMLSchema" xmlns:p="http://schemas.microsoft.com/office/2006/metadata/properties" xmlns:ns2="d72d0759-447f-4d11-8d91-a6e1cbe85898" targetNamespace="http://schemas.microsoft.com/office/2006/metadata/properties" ma:root="true" ma:fieldsID="c51831ba92d2eaf0b8714faf4bac6bba" ns2:_="">
    <xsd:import namespace="d72d0759-447f-4d11-8d91-a6e1cbe858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d0759-447f-4d11-8d91-a6e1cbe85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a5b359e2-fdae-41c7-a0a3-a8a599e035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2d0759-447f-4d11-8d91-a6e1cbe85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D466DD-8ACC-4106-9DF2-CCE0D55AD0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2d0759-447f-4d11-8d91-a6e1cbe858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DBC57E-AD0C-4677-835A-714F11273D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E3579B-2E5F-4E88-96E8-BBB7B91829CB}">
  <ds:schemaRefs>
    <ds:schemaRef ds:uri="http://schemas.microsoft.com/office/2006/metadata/properties"/>
    <ds:schemaRef ds:uri="http://schemas.microsoft.com/office/infopath/2007/PartnerControls"/>
    <ds:schemaRef ds:uri="d72d0759-447f-4d11-8d91-a6e1cbe85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sablona_kgi_v3</Template>
  <TotalTime>1159</TotalTime>
  <Words>107</Words>
  <Application>Microsoft Office PowerPoint</Application>
  <PresentationFormat>On-screen Show (16:9)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Motív balíka Office</vt:lpstr>
      <vt:lpstr>ANALÝZA VOLEBNÍHO ÚSPĚCHU ČESKÉ PIRÁTSKÉ STRANY</vt:lpstr>
      <vt:lpstr>ČESKÁ PIRÁTSKÁ STRANA</vt:lpstr>
      <vt:lpstr>Vývoj volební podpory Pirátů</vt:lpstr>
      <vt:lpstr>Prostorové rozdíly v podpoře Pirátů</vt:lpstr>
      <vt:lpstr>Data a metodika</vt:lpstr>
      <vt:lpstr>Neprostorový model OLS</vt:lpstr>
      <vt:lpstr>Diagnostika: prostorová autokorelace reziduí</vt:lpstr>
      <vt:lpstr>GWR: nastavení a porovnání s OLS</vt:lpstr>
      <vt:lpstr>Lokální R2: kde model funguje lépe</vt:lpstr>
      <vt:lpstr>Lokální koeficienty: důkaz nestacionarity</vt:lpstr>
      <vt:lpstr>Shrnutí a limity</vt:lpstr>
      <vt:lpstr>Děkuji za pozornost Vojtěch Svoboda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Svoboda Vojtech</dc:creator>
  <cp:lastModifiedBy>Svoboda Vojtech</cp:lastModifiedBy>
  <cp:revision>110</cp:revision>
  <dcterms:created xsi:type="dcterms:W3CDTF">2024-10-20T11:01:56Z</dcterms:created>
  <dcterms:modified xsi:type="dcterms:W3CDTF">2026-04-07T12:59:39Z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0x0101005A86020EF9ED4743BF514E0EFECFCE50</vt:lpwstr>
  </property>
  <property fmtid="{D5CDD505-2E9C-101B-9397-08002B2CF9AE}" pid="3" name="MediaServiceImageTags">
    <vt:lpwstr/>
  </property>
</Properties>
</file>